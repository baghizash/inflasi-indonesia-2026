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056000" cy="6858000"/>
          </a:xfrm>
          <a:prstGeom prst="rect">
            <a:avLst/>
          </a:prstGeom>
          <a:solidFill>
            <a:srgbClr val="1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720000"/>
            <a:ext cx="63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B0D9"/>
                </a:solidFill>
                <a:latin typeface="Calibri"/>
              </a:defRPr>
            </a:pPr>
            <a:r>
              <a:t>PORTOFOLIO ANALISIS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116000"/>
            <a:ext cx="6408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300" b="1">
                <a:solidFill>
                  <a:srgbClr val="FFFFFF"/>
                </a:solidFill>
                <a:latin typeface="Calibri"/>
              </a:defRPr>
            </a:pPr>
            <a:r>
              <a:t>Inflasi Indonesia</a:t>
            </a:r>
          </a:p>
          <a:p>
            <a:pPr algn="l">
              <a:defRPr sz="4300" b="1">
                <a:solidFill>
                  <a:srgbClr val="FFFFFF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3999" y="2376000"/>
            <a:ext cx="619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0">
                <a:solidFill>
                  <a:srgbClr val="F6D9D9"/>
                </a:solidFill>
                <a:latin typeface="Calibri"/>
              </a:defRPr>
            </a:pPr>
            <a:r>
              <a:t>Membaca perjalanan harga konsumen Indonesia lewat statistik resmi BPS: dari deflasi COVID dan lonjakan BBM 2022 sampai posisi inflasi hari ini terhadap sasaran Bank Indonesia, dirinci per komponen, kelompok pengeluaran, dan 150 kabupaten/kota.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3744000"/>
            <a:ext cx="6048000" cy="21600"/>
          </a:xfrm>
          <a:prstGeom prst="rect">
            <a:avLst/>
          </a:prstGeom>
          <a:solidFill>
            <a:srgbClr val="7FB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3924000"/>
            <a:ext cx="63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E4F2"/>
                </a:solidFill>
                <a:latin typeface="Calibri"/>
              </a:defRPr>
            </a:pPr>
            <a:r>
              <a:t>Sumber: BPS, BRS Perkembangan Indeks Harga Konsumen (rilis bulanan)</a:t>
            </a:r>
          </a:p>
          <a:p>
            <a:pPr algn="l">
              <a:defRPr sz="1300" b="0">
                <a:solidFill>
                  <a:srgbClr val="D6E4F2"/>
                </a:solidFill>
                <a:latin typeface="Calibri"/>
              </a:defRPr>
            </a:pPr>
            <a:r>
              <a:t>Periode: Januari 2019 sampai September 2026 (93 bulan)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999" y="4896000"/>
            <a:ext cx="6048000" cy="75600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5004000"/>
            <a:ext cx="5832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2A26"/>
                </a:solidFill>
                <a:latin typeface="Calibri"/>
              </a:defRPr>
            </a:pPr>
            <a:r>
              <a:t>DASHBOARD POWER BI</a:t>
            </a:r>
          </a:p>
          <a:p>
            <a:pPr algn="l">
              <a:defRPr sz="1300" b="1">
                <a:solidFill>
                  <a:srgbClr val="2E2A26"/>
                </a:solidFill>
                <a:latin typeface="Calibri"/>
              </a:defRPr>
            </a:pPr>
            <a:r>
              <a:t>Kit siap rakit: model bintang 5 fakta dan 6 dimensi, 12 measure DAX, 4 halaman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16000" y="0"/>
            <a:ext cx="4777200" cy="6858000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8000" y="827999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6D9D9"/>
                </a:solidFill>
                <a:latin typeface="Calibri"/>
              </a:defRPr>
            </a:pPr>
            <a:r>
              <a:t>INFLASI YOY</a:t>
            </a:r>
          </a:p>
          <a:p>
            <a:pPr algn="l">
              <a:defRPr sz="1400" b="1">
                <a:solidFill>
                  <a:srgbClr val="F6D9D9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8000" y="1655999"/>
            <a:ext cx="410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3,28%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8000" y="2556000"/>
            <a:ext cx="39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6D9D9"/>
                </a:solidFill>
                <a:latin typeface="Calibri"/>
              </a:defRPr>
            </a:pPr>
            <a:r>
              <a:t>Di dalam sasaran BI 2,5% plus minus 1%. Bulanannya +0,30%, IHK 112,31 (basis 2022=100)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48000" y="3240000"/>
            <a:ext cx="3600000" cy="18000"/>
          </a:xfrm>
          <a:prstGeom prst="rect">
            <a:avLst/>
          </a:prstGeom>
          <a:solidFill>
            <a:srgbClr val="F6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8000" y="3420000"/>
            <a:ext cx="3960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0">
                <a:solidFill>
                  <a:srgbClr val="FFFFFF"/>
                </a:solidFill>
                <a:latin typeface="Calibri"/>
              </a:defRPr>
            </a:pPr>
            <a:r>
              <a:t>Puncak era 2022: 5,95% (Sep 2022)</a:t>
            </a:r>
          </a:p>
          <a:p>
            <a:pPr algn="l">
              <a:defRPr sz="1450" b="0">
                <a:solidFill>
                  <a:srgbClr val="FFFFFF"/>
                </a:solidFill>
                <a:latin typeface="Calibri"/>
              </a:defRPr>
            </a:pPr>
            <a:r>
              <a:t>19 dari 24 bulan terakhir di dalam</a:t>
            </a:r>
          </a:p>
          <a:p>
            <a:pPr algn="l">
              <a:defRPr sz="1450" b="0">
                <a:solidFill>
                  <a:srgbClr val="FFFFFF"/>
                </a:solidFill>
                <a:latin typeface="Calibri"/>
              </a:defRPr>
            </a:pPr>
            <a:r>
              <a:t>sasaran Bank Indonesia</a:t>
            </a:r>
          </a:p>
          <a:p>
            <a:pPr algn="l">
              <a:defRPr sz="1450" b="0">
                <a:solidFill>
                  <a:srgbClr val="FFFFFF"/>
                </a:solidFill>
                <a:latin typeface="Calibri"/>
              </a:defRPr>
            </a:pPr>
            <a:r>
              <a:t>92 dari 150 kab/kota di atas</a:t>
            </a:r>
          </a:p>
          <a:p>
            <a:pPr algn="l">
              <a:defRPr sz="1450" b="0">
                <a:solidFill>
                  <a:srgbClr val="FFFFFF"/>
                </a:solidFill>
                <a:latin typeface="Calibri"/>
              </a:defRPr>
            </a:pPr>
            <a:r>
              <a:t>inflasi nasional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000" y="5616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BAGHIZ ASSHIDDIQIE ARASYA</a:t>
            </a:r>
          </a:p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Potret Terbaru: Inflasi September 2026 Sebesar 3,28%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B0D9"/>
                </a:solidFill>
                <a:latin typeface="Calibri"/>
              </a:defRPr>
            </a:pPr>
            <a:r>
              <a:t>Empat angka kunci dari BRS Perkembangan IHK September 2026, BPS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224000"/>
            <a:ext cx="2700000" cy="11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1224000"/>
            <a:ext cx="2700000" cy="64800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999" y="13392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8A7F76"/>
                </a:solidFill>
                <a:latin typeface="Calibri"/>
              </a:defRPr>
            </a:pPr>
            <a:r>
              <a:t>INFLASI YOY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565999"/>
            <a:ext cx="24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406B"/>
                </a:solidFill>
                <a:latin typeface="Calibri"/>
              </a:defRPr>
            </a:pPr>
            <a:r>
              <a:t>3,28%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999" y="1961999"/>
            <a:ext cx="24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2A26"/>
                </a:solidFill>
                <a:latin typeface="Calibri"/>
              </a:defRPr>
            </a:pPr>
            <a:r>
              <a:t>Naik dari 3,19% pada Agustus 2026, tetap di dalam sasaran BI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8000" y="1224000"/>
            <a:ext cx="2700000" cy="11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8000" y="1224000"/>
            <a:ext cx="2700000" cy="64800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000" y="13392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8A7F76"/>
                </a:solidFill>
                <a:latin typeface="Calibri"/>
              </a:defRPr>
            </a:pPr>
            <a:r>
              <a:t>INFLASI MTM SEP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000" y="1565999"/>
            <a:ext cx="24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406B"/>
                </a:solidFill>
                <a:latin typeface="Calibri"/>
              </a:defRPr>
            </a:pPr>
            <a:r>
              <a:t>+0,30%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000" y="1961999"/>
            <a:ext cx="24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2A26"/>
                </a:solidFill>
                <a:latin typeface="Calibri"/>
              </a:defRPr>
            </a:pPr>
            <a:r>
              <a:t>Setahun berjalan (ytd) 2,17%, IHK mencapai 112,31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999" y="1224000"/>
            <a:ext cx="2700000" cy="11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999" y="1224000"/>
            <a:ext cx="2700000" cy="64800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0000" y="13392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8A7F76"/>
                </a:solidFill>
                <a:latin typeface="Calibri"/>
              </a:defRPr>
            </a:pPr>
            <a:r>
              <a:t>PUNCAK YOY ERA 2022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0000" y="1565999"/>
            <a:ext cx="24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406B"/>
                </a:solidFill>
                <a:latin typeface="Calibri"/>
              </a:defRPr>
            </a:pPr>
            <a:r>
              <a:t>5,95%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0000" y="1961999"/>
            <a:ext cx="24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2A26"/>
                </a:solidFill>
                <a:latin typeface="Calibri"/>
              </a:defRPr>
            </a:pPr>
            <a:r>
              <a:t>September 2022, bulan kenaikan harga BBM bersubsidi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0000" y="1224000"/>
            <a:ext cx="2592000" cy="11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0000" y="1224000"/>
            <a:ext cx="2592000" cy="64800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6000" y="1339200"/>
            <a:ext cx="23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8A7F76"/>
                </a:solidFill>
                <a:latin typeface="Calibri"/>
              </a:defRPr>
            </a:pPr>
            <a:r>
              <a:t>BULAN DI DALAM SASARAN 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6000" y="1565999"/>
            <a:ext cx="2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406B"/>
                </a:solidFill>
                <a:latin typeface="Calibri"/>
              </a:defRPr>
            </a:pPr>
            <a:r>
              <a:t>19 / 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6000" y="1961999"/>
            <a:ext cx="2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2A26"/>
                </a:solidFill>
                <a:latin typeface="Calibri"/>
              </a:defRPr>
            </a:pPr>
            <a:r>
              <a:t>Dua tahun terakhir, Oktober 2024 sampai September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2736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999" y="2736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14406B"/>
                </a:solidFill>
                <a:latin typeface="Calibri"/>
              </a:defRPr>
            </a:pPr>
            <a:r>
              <a:t>Komponen pangan bergejolak paling panas: 5,03%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999" y="3016799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2A26"/>
                </a:solidFill>
                <a:latin typeface="Calibri"/>
              </a:defRPr>
            </a:pPr>
            <a:r>
              <a:t>Harga bergejolak 5,03% yoy, harga diatur pemerintah 3,25%, dan inflasi inti paling adem di 2,84%. Andil terbesar justru dari inti (1,82 poin) karena bobotnya paling besar.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000" y="3761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999" y="3761999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14406B"/>
                </a:solidFill>
                <a:latin typeface="Calibri"/>
              </a:defRPr>
            </a:pPr>
            <a:r>
              <a:t>Makanan adalah penyumbang andil terbesar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999" y="4042799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2A26"/>
                </a:solidFill>
                <a:latin typeface="Calibri"/>
              </a:defRPr>
            </a:pPr>
            <a:r>
              <a:t>Kelompok Makanan, Minuman, dan Tembakau memberi andil 1,28 poin dari inflasi 3,28%, diikuti Transportasi 0,58 dan Perawatan Pribadi 0,53 poin yang yoy-nya tertinggi di 7,77%.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000" y="4788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999" y="4788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14406B"/>
                </a:solidFill>
                <a:latin typeface="Calibri"/>
              </a:defRPr>
            </a:pPr>
            <a:r>
              <a:t>Dua komoditas cabai masuk lima besar pendorong bulanan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999" y="5068799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2A26"/>
                </a:solidFill>
                <a:latin typeface="Calibri"/>
              </a:defRPr>
            </a:pPr>
            <a:r>
              <a:t>Andil mtm terbesar September 2026: cabai rawit 0,08 dan cabai merah 0,06 poin, pola gejolak pangan segar yang berulang dari tahun ke tahun.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F76"/>
                </a:solidFill>
                <a:latin typeface="Calibri"/>
              </a:defRPr>
            </a:pPr>
            <a:r>
              <a:t>2 / 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F76"/>
                </a:solidFill>
                <a:latin typeface="Calibri"/>
              </a:defRPr>
            </a:pPr>
            <a:r>
              <a:t>Inflasi Indonesia 2026 • Data BPS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Busur Besar: Lonjakan 2022, Disinflasi, Lalu Stabil di Sasaran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B0D9"/>
                </a:solidFill>
                <a:latin typeface="Calibri"/>
              </a:defRPr>
            </a:pPr>
            <a:r>
              <a:t>Inflasi yoy Januari 2023 sampai September 2026 dan inflasi tahunan Desember</a:t>
            </a:r>
          </a:p>
        </p:txBody>
      </p:sp>
      <p:pic>
        <p:nvPicPr>
          <p:cNvPr id="6" name="Picture 5" descr="chart_yoy_tr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116000"/>
            <a:ext cx="6912000" cy="2985796"/>
          </a:xfrm>
          <a:prstGeom prst="rect">
            <a:avLst/>
          </a:prstGeom>
        </p:spPr>
      </p:pic>
      <p:pic>
        <p:nvPicPr>
          <p:cNvPr id="7" name="Picture 6" descr="chart_tahunan_dese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116000"/>
            <a:ext cx="4212000" cy="2032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4536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999" y="4536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14406B"/>
                </a:solidFill>
                <a:latin typeface="Calibri"/>
              </a:defRPr>
            </a:pPr>
            <a:r>
              <a:t>Dari 5,51% menjadi 1,57% dalam dua tahun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99" y="4816800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Inflasi tahunan Desember: 5,51% (2022), 2,61% (2023), lalu 1,57% (2024), titik terendah seri Desember sejak 2019 kecuali era COVID.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5526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5526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14406B"/>
                </a:solidFill>
                <a:latin typeface="Calibri"/>
              </a:defRPr>
            </a:pPr>
            <a:r>
              <a:t>Anomali awal 2025 dan awal 2026 sama-sama soal listrik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999" y="5806800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Februari 2025 inflasi yoy minus 0,09% karena diskon tarif listrik, dan Februari 2026 melonjak ke 4,76% sebagai efek basis rendah dari diskon yang sama (tarif listrik yoy +86,96%).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F76"/>
                </a:solidFill>
                <a:latin typeface="Calibri"/>
              </a:defRPr>
            </a:pPr>
            <a:r>
              <a:t>3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F76"/>
                </a:solidFill>
                <a:latin typeface="Calibri"/>
              </a:defRPr>
            </a:pPr>
            <a:r>
              <a:t>Inflasi Indonesia 2026 • Data BPS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Sisi Lain Inflasi: 11 Bulan Deflasi yang Teramati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B0D9"/>
                </a:solidFill>
                <a:latin typeface="Calibri"/>
              </a:defRPr>
            </a:pPr>
            <a:r>
              <a:t>Bulan dengan inflasi mtm negatif pada seri yang terkompilasi, 2019 sampai 2026</a:t>
            </a:r>
          </a:p>
        </p:txBody>
      </p:sp>
      <p:pic>
        <p:nvPicPr>
          <p:cNvPr id="6" name="Picture 5" descr="chart_mtm_tr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116000"/>
            <a:ext cx="6912000" cy="2847963"/>
          </a:xfrm>
          <a:prstGeom prst="rect">
            <a:avLst/>
          </a:prstGeom>
        </p:spPr>
      </p:pic>
      <p:pic>
        <p:nvPicPr>
          <p:cNvPr id="7" name="Picture 6" descr="chart_defla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116000"/>
            <a:ext cx="4212000" cy="19321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4536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999" y="4536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14406B"/>
                </a:solidFill>
                <a:latin typeface="Calibri"/>
              </a:defRPr>
            </a:pPr>
            <a:r>
              <a:t>Deflasi COVID: tiga bulan berurutan pada 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99" y="4816800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Juli, Agustus, September 2020 mencatat mtm minus 0,10%, minus 0,05%, dan minus 0,05% saat permintaan melemah di awal pandemi.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5526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5526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14406B"/>
                </a:solidFill>
                <a:latin typeface="Calibri"/>
              </a:defRPr>
            </a:pPr>
            <a:r>
              <a:t>Deflasi terdalam justru Februari 2025: minus 0,48%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999" y="5806800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Bukan karena krisis, melainkan diskon tarif listrik pemerintah. Deflasi terdalam kedua: September 2019 minus 0,27%, musim panen.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6515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999" y="6515999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14406B"/>
                </a:solidFill>
                <a:latin typeface="Calibri"/>
              </a:defRPr>
            </a:pPr>
            <a:r>
              <a:t>Oktober 2022 ikut deflasi: minus 0,11%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99" y="6796800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Sebulan setelah lonjakan BBM, harga pangan menormalkan diri dan menarik mtm ke wilayah negatif.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F76"/>
                </a:solidFill>
                <a:latin typeface="Calibri"/>
              </a:defRPr>
            </a:pPr>
            <a:r>
              <a:t>4 /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F76"/>
                </a:solidFill>
                <a:latin typeface="Calibri"/>
              </a:defRPr>
            </a:pPr>
            <a:r>
              <a:t>Inflasi Indonesia 2026 • Data BPS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Komponen: Pangan Bergejolak Memimpin, Inti Tetap Lengket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B0D9"/>
                </a:solidFill>
                <a:latin typeface="Calibri"/>
              </a:defRPr>
            </a:pPr>
            <a:r>
              <a:t>Inflasi dan andil per komponen, September 2026</a:t>
            </a:r>
          </a:p>
        </p:txBody>
      </p:sp>
      <p:pic>
        <p:nvPicPr>
          <p:cNvPr id="6" name="Picture 5" descr="chart_komponen_y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116000"/>
            <a:ext cx="5724000" cy="2778048"/>
          </a:xfrm>
          <a:prstGeom prst="rect">
            <a:avLst/>
          </a:prstGeom>
        </p:spPr>
      </p:pic>
      <p:pic>
        <p:nvPicPr>
          <p:cNvPr id="7" name="Picture 6" descr="chart_komponen_and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1116000"/>
            <a:ext cx="5652000" cy="2475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4428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999" y="4428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14406B"/>
                </a:solidFill>
                <a:latin typeface="Calibri"/>
              </a:defRPr>
            </a:pPr>
            <a:r>
              <a:t>Bergejolak tertinggi, inti terberat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99" y="4708800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Harga bergejolak 5,03% yoy dengan andil 0,83 poin, sementara inti hanya 2,84% tetapi andilnya 1,82 poin, terbesar di antara komponen.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5418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5418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14406B"/>
                </a:solidFill>
                <a:latin typeface="Calibri"/>
              </a:defRPr>
            </a:pPr>
            <a:r>
              <a:t>Tiga era, tiga penggerak berbeda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999" y="5698800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2020: bergejolak melonjak bulanan (Desember +2,17% mtm). 2022: harga diatur pemerintah lewat BBM. 2025 sampai 2026: inti lengket di kisaran 2,2% sampai 2,8% sementara bergejolak berayun 5% ke atas.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F76"/>
                </a:solidFill>
                <a:latin typeface="Calibri"/>
              </a:defRPr>
            </a:pPr>
            <a:r>
              <a:t>5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F76"/>
                </a:solidFill>
                <a:latin typeface="Calibri"/>
              </a:defRPr>
            </a:pPr>
            <a:r>
              <a:t>Inflasi Indonesia 2026 • Data BPS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Kelompok Pengeluaran: Makanan Selalu Jadi Penyumbang Terbesar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B0D9"/>
                </a:solidFill>
                <a:latin typeface="Calibri"/>
              </a:defRPr>
            </a:pPr>
            <a:r>
              <a:t>Inflasi yoy 11 kelompok pengeluaran, September 2026</a:t>
            </a:r>
          </a:p>
        </p:txBody>
      </p:sp>
      <p:pic>
        <p:nvPicPr>
          <p:cNvPr id="6" name="Picture 5" descr="chart_kelompok_y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044000"/>
            <a:ext cx="8064541" cy="453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96000" y="1152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2000" y="1152000"/>
            <a:ext cx="482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14406B"/>
                </a:solidFill>
                <a:latin typeface="Calibri"/>
              </a:defRPr>
            </a:pPr>
            <a:r>
              <a:t>Perawatan Pribadi paling panas: 7,77%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2000" y="1432800"/>
            <a:ext cx="482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Digerakkan emas perhiasan, penyumbang andil yoy komoditas terbesar nasional (0,44 poin) seiring harga emas dunia.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6000" y="1980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2000" y="1980000"/>
            <a:ext cx="482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14406B"/>
                </a:solidFill>
                <a:latin typeface="Calibri"/>
              </a:defRPr>
            </a:pPr>
            <a:r>
              <a:t>Makanan: yoy 4,37%, andil 1,28 poin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2000" y="2260800"/>
            <a:ext cx="482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Terbesar di antara semua kelompok pada September 2026, dan pola yang sama pada Desember 2023 (andil 1,60) dan Desember 2025 (1,33).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6000" y="3006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2000" y="3006000"/>
            <a:ext cx="482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14406B"/>
                </a:solidFill>
                <a:latin typeface="Calibri"/>
              </a:defRPr>
            </a:pPr>
            <a:r>
              <a:t>Kelompok kebutuhan dasar justru adem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2000" y="3286799"/>
            <a:ext cx="482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Perumahan 1,02%, Pakaian 1,20%, Pendidikan 1,43%. Tekanan harga terkonsentrasi di pangan, transportasi (4,84%), dan jasa pribadi.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6000" y="4031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000" y="4031999"/>
            <a:ext cx="482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14406B"/>
                </a:solidFill>
                <a:latin typeface="Calibri"/>
              </a:defRPr>
            </a:pPr>
            <a:r>
              <a:t>Satu-satunya kelompok deflasi pada Desember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2000" y="4312799"/>
            <a:ext cx="482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Informasi, Komunikasi, dan Jasa Keuangan memberi andil minus 0,02 poin, tarif komunikasi yang terus turun.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F76"/>
                </a:solidFill>
                <a:latin typeface="Calibri"/>
              </a:defRPr>
            </a:pPr>
            <a:r>
              <a:t>6 /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F76"/>
                </a:solidFill>
                <a:latin typeface="Calibri"/>
              </a:defRPr>
            </a:pPr>
            <a:r>
              <a:t>Inflasi Indonesia 2026 • Data BPS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September 2022 dan Pola Musiman: Kapan Harga Bergerak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B0D9"/>
                </a:solidFill>
                <a:latin typeface="Calibri"/>
              </a:defRPr>
            </a:pPr>
            <a:r>
              <a:t>Inflasi mtm per kelompok pada bulan kenaikan BBM, dan rata-rata mtm per bulan kalender</a:t>
            </a:r>
          </a:p>
        </p:txBody>
      </p:sp>
      <p:pic>
        <p:nvPicPr>
          <p:cNvPr id="6" name="Picture 5" descr="chart_bbm_2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116000"/>
            <a:ext cx="5724000" cy="2814979"/>
          </a:xfrm>
          <a:prstGeom prst="rect">
            <a:avLst/>
          </a:prstGeom>
        </p:spPr>
      </p:pic>
      <p:pic>
        <p:nvPicPr>
          <p:cNvPr id="7" name="Picture 6" descr="chart_kemusim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1116000"/>
            <a:ext cx="5652000" cy="258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4428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999" y="4428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14406B"/>
                </a:solidFill>
                <a:latin typeface="Calibri"/>
              </a:defRPr>
            </a:pPr>
            <a:r>
              <a:t>BBM naik, Transportasi melonjak 8,88% dalam sebulan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99" y="4708800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September 2022 inflasi mtm 1,17% dan yoy mencapai puncak 5,95%. Kelompok lain nyaris tidak bergerak; Makanan bahkan turun 0,30%.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5418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5418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14406B"/>
                </a:solidFill>
                <a:latin typeface="Calibri"/>
              </a:defRPr>
            </a:pPr>
            <a:r>
              <a:t>Maret dan Desember adalah bulan terpanas secara musiman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999" y="5698800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Rata-rata mtm Maret dan Desember sama-sama 0,50%, bulan Ramadan dan Lebaran yang bergeser serta belanja akhir tahun. Agustus paling adem di 0,02%.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F76"/>
                </a:solidFill>
                <a:latin typeface="Calibri"/>
              </a:defRPr>
            </a:pPr>
            <a:r>
              <a:t>7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F76"/>
                </a:solidFill>
                <a:latin typeface="Calibri"/>
              </a:defRPr>
            </a:pPr>
            <a:r>
              <a:t>Inflasi Indonesia 2026 • Data BPS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Satu Negara, Dua Dunia Harga: Rentang Antar Kota 8,01 Poin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B0D9"/>
                </a:solidFill>
                <a:latin typeface="Calibri"/>
              </a:defRPr>
            </a:pPr>
            <a:r>
              <a:t>Inflasi yoy 150 kabupaten/kota, September 2026</a:t>
            </a:r>
          </a:p>
        </p:txBody>
      </p:sp>
      <p:pic>
        <p:nvPicPr>
          <p:cNvPr id="6" name="Picture 5" descr="chart_kota_ekstr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116000"/>
            <a:ext cx="6912000" cy="3161788"/>
          </a:xfrm>
          <a:prstGeom prst="rect">
            <a:avLst/>
          </a:prstGeom>
        </p:spPr>
      </p:pic>
      <p:pic>
        <p:nvPicPr>
          <p:cNvPr id="7" name="Picture 6" descr="chart_kota_distribu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116000"/>
            <a:ext cx="4212000" cy="19248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4536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999" y="4536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14406B"/>
                </a:solidFill>
                <a:latin typeface="Calibri"/>
              </a:defRPr>
            </a:pPr>
            <a:r>
              <a:t>Tertinggi Kab. Minahasa Utara 9,05%, terendah Kab. Timor Tengah Selatan 1,04%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99" y="4816800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Sulawesi Utara adalah provinsi terpanas (7,59%) dan sekaligus tertinggi mtm (+3,53%); Sumatera Selatan terendah di 2,55%.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5328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5328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14406B"/>
                </a:solidFill>
                <a:latin typeface="Calibri"/>
              </a:defRPr>
            </a:pPr>
            <a:r>
              <a:t>Mayoritas kota di atas angka nasional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999" y="5608799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92 dari 150 kab/kota (61%) berinflasi di atas 3,28%. Median kota 3,59% dan rata-rata 3,76%, keduanya di atas angka nasional, karena agregat nasional tertimbang ke kota besar yang lebih adem.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F76"/>
                </a:solidFill>
                <a:latin typeface="Calibri"/>
              </a:defRPr>
            </a:pPr>
            <a:r>
              <a:t>8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F76"/>
                </a:solidFill>
                <a:latin typeface="Calibri"/>
              </a:defRPr>
            </a:pPr>
            <a:r>
              <a:t>Inflasi Indonesia 2026 • Data BPS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Dashboard Power BI: Inflasi-Indonesia-2026.pbix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B0D9"/>
                </a:solidFill>
                <a:latin typeface="Calibri"/>
              </a:defRPr>
            </a:pPr>
            <a:r>
              <a:t>Kit siap rakit di folder powerbi/, model bintang, 12 measure DAX, 4 halaman</a:t>
            </a:r>
          </a:p>
        </p:txBody>
      </p:sp>
      <p:pic>
        <p:nvPicPr>
          <p:cNvPr id="6" name="Picture 5" descr="dashboard_preview_halama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080000"/>
            <a:ext cx="6983999" cy="39304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03999" y="1116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0" y="1116000"/>
            <a:ext cx="38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406B"/>
                </a:solidFill>
                <a:latin typeface="Calibri"/>
              </a:defRPr>
            </a:pPr>
            <a:r>
              <a:t>Halaman 1, Ringkasan Inflasi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0" y="1396800"/>
            <a:ext cx="38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E2A26"/>
                </a:solidFill>
                <a:latin typeface="Calibri"/>
              </a:defRPr>
            </a:pPr>
            <a:r>
              <a:t>Kartu KPI: yoy 3,28%, mtm 0,30%, IHK 112,31, puncak 5,95%. Tren yoy dengan pita sasaran BI dan andil kelompok September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3999" y="2141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0" y="2141999"/>
            <a:ext cx="38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406B"/>
                </a:solidFill>
                <a:latin typeface="Calibri"/>
              </a:defRPr>
            </a:pPr>
            <a:r>
              <a:t>Halaman 2, Komponen dan Kelompok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0" y="2422800"/>
            <a:ext cx="38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E2A26"/>
                </a:solidFill>
                <a:latin typeface="Calibri"/>
              </a:defRPr>
            </a:pPr>
            <a:r>
              <a:t>Yoy dan andil per komponen, 11 kelompok pengeluaran, tabel tiga bulan Tabel 1 BRS (Nov 2025, Feb 2026, Sep 2026).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3999" y="2970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0" y="2970000"/>
            <a:ext cx="38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406B"/>
                </a:solidFill>
                <a:latin typeface="Calibri"/>
              </a:defRPr>
            </a:pPr>
            <a:r>
              <a:t>Halaman 3, Peta Harga per Wilayah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0" y="3250800"/>
            <a:ext cx="38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E2A26"/>
                </a:solidFill>
                <a:latin typeface="Calibri"/>
              </a:defRPr>
            </a:pPr>
            <a:r>
              <a:t>38 provinsi dan 150 kab/kota September 2026, ekstrem tertinggi dan terendah, kartu 92 kota di atas nasional.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3999" y="3797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0" y="3797999"/>
            <a:ext cx="38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406B"/>
                </a:solidFill>
                <a:latin typeface="Calibri"/>
              </a:defRPr>
            </a:pPr>
            <a:r>
              <a:t>Halaman 4, Sejarah dan Kemusiman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0" y="4078799"/>
            <a:ext cx="38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E2A26"/>
                </a:solidFill>
                <a:latin typeface="Calibri"/>
              </a:defRPr>
            </a:pPr>
            <a:r>
              <a:t>Grafik mtm 2019 sampai 2026, inflasi Desember per tahun, pola musiman, dan rincian bulan kenaikan BBM 2022.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3999" y="4625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6282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0" y="4625999"/>
            <a:ext cx="38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406B"/>
                </a:solidFill>
                <a:latin typeface="Calibri"/>
              </a:defRPr>
            </a:pPr>
            <a:r>
              <a:t>Grain dipisah, anti salah agregasi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0" y="4906799"/>
            <a:ext cx="38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E2A26"/>
                </a:solidFill>
                <a:latin typeface="Calibri"/>
              </a:defRPr>
            </a:pPr>
            <a:r>
              <a:t>Fakta bulanan, kelompok, komponen, kota, dan provinsi masing-masing pada grain-nya sendiri. Setiap measure punya angka verifikasi di measures_dax.md.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F76"/>
                </a:solidFill>
                <a:latin typeface="Calibri"/>
              </a:defRPr>
            </a:pPr>
            <a:r>
              <a:t>9 /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F76"/>
                </a:solidFill>
                <a:latin typeface="Calibri"/>
              </a:defRPr>
            </a:pPr>
            <a:r>
              <a:t>Inflasi Indonesia 2026 • Data BPS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576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Kesimpulan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3999" y="1080000"/>
            <a:ext cx="6048000" cy="21600"/>
          </a:xfrm>
          <a:prstGeom prst="rect">
            <a:avLst/>
          </a:prstGeom>
          <a:solidFill>
            <a:srgbClr val="7FB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332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B0D9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332000"/>
            <a:ext cx="10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Calibri"/>
              </a:defRPr>
            </a:pPr>
            <a:r>
              <a:t>Inflasi terkendali dan di dalam sasaran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638000"/>
            <a:ext cx="106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F6D9D9"/>
                </a:solidFill>
                <a:latin typeface="Calibri"/>
              </a:defRPr>
            </a:pPr>
            <a:r>
              <a:t>September 2026 inflasi yoy 3,28% dengan mtm 0,30%. Selama dua tahun terakhir 19 dari 24 bulan berada di dalam sasaran BI 2,5% plus minus 1%.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21852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B0D9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185200"/>
            <a:ext cx="10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Calibri"/>
              </a:defRPr>
            </a:pPr>
            <a:r>
              <a:t>Puncak era ini adalah September 2022, bukan Oktober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491200"/>
            <a:ext cx="106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F6D9D9"/>
                </a:solidFill>
                <a:latin typeface="Calibri"/>
              </a:defRPr>
            </a:pPr>
            <a:r>
              <a:t>Kenaikan BBM membuat Transportasi naik 8,88% sebulan dan yoy menyentuh 5,95%; inflasi tahunan 2022 ditutup 5,51% sebelum disinflasi ke 2,61% dan 1,57%.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999" y="30384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B0D9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038400"/>
            <a:ext cx="10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Calibri"/>
              </a:defRPr>
            </a:pPr>
            <a:r>
              <a:t>Pangan adalah sumber gejolak yang berulang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344399"/>
            <a:ext cx="106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F6D9D9"/>
                </a:solidFill>
                <a:latin typeface="Calibri"/>
              </a:defRPr>
            </a:pPr>
            <a:r>
              <a:t>Kelompok Makanan penyumbang andil terbesar pada Des 2023, Des 2025, dan Sep 2026; komponen bergejolak 5,03% dan cabai kembali masuk daftar pendorong bulanan teratas.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999" y="38915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B0D9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891599"/>
            <a:ext cx="10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Calibri"/>
              </a:defRPr>
            </a:pPr>
            <a:r>
              <a:t>Angka nasional menyembunyikan disparitas daerah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4197599"/>
            <a:ext cx="106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F6D9D9"/>
                </a:solidFill>
                <a:latin typeface="Calibri"/>
              </a:defRPr>
            </a:pPr>
            <a:r>
              <a:t>Rentang antar kab/kota 8,01 poin (9,05% vs 1,04%) dan 61% kota berada di atas angka nasional; kebijakan harga tidak bisa dibaca dari satu angka.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999" y="47447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B0D9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4744799"/>
            <a:ext cx="10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Calibri"/>
              </a:defRPr>
            </a:pPr>
            <a:r>
              <a:t>Metode dan keterbatasan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5050799"/>
            <a:ext cx="106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F6D9D9"/>
                </a:solidFill>
                <a:latin typeface="Calibri"/>
              </a:defRPr>
            </a:pPr>
            <a:r>
              <a:t>Seluruh angka dari BRS dan publikasi BPS, tertelusur di SOURCES.md. Seri yoy kontinu Jan 2023 sampai Sep 2026; titik 2019 sampai 2022 hanya yang terverifikasi, dan IHK tidak disambung lintas ganti basis.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999" y="5976000"/>
            <a:ext cx="11160000" cy="18000"/>
          </a:xfrm>
          <a:prstGeom prst="rect">
            <a:avLst/>
          </a:prstGeom>
          <a:solidFill>
            <a:srgbClr val="7FB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3999" y="6120000"/>
            <a:ext cx="11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Terima kasih, BAGHIZ ASSHIDDIQIE ARASYA • Data Analyst</a:t>
            </a:r>
          </a:p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Repo: github.com/baghizash/inflasi-indonesia-2026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